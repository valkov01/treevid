
<file path=[Content_Types].xml><?xml version="1.0" encoding="utf-8"?>
<Types xmlns="http://schemas.openxmlformats.org/package/2006/content-types">
  <Default Extension="png" ContentType="image/png"/>
  <Default Extension="rels" ContentType="application/vnd.openxmlformats-package.relationships+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32918400" cy="21945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1pPr>
    <a:lvl2pPr marL="0" marR="0" indent="326532"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2pPr>
    <a:lvl3pPr marL="0" marR="0" indent="653064"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3pPr>
    <a:lvl4pPr marL="0" marR="0" indent="979596"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4pPr>
    <a:lvl5pPr marL="0" marR="0" indent="1306128"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5pPr>
    <a:lvl6pPr marL="0" marR="0" indent="1632661"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6pPr>
    <a:lvl7pPr marL="0" marR="0" indent="1959193"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7pPr>
    <a:lvl8pPr marL="0" marR="0" indent="2285725"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8pPr>
    <a:lvl9pPr marL="0" marR="0" indent="2612257"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851EB"/>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snapToObjects="1">
      <p:cViewPr>
        <p:scale>
          <a:sx n="50" d="100"/>
          <a:sy n="50" d="100"/>
        </p:scale>
        <p:origin x="34" y="-32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4" name="Shape 24"/>
          <p:cNvSpPr>
            <a:spLocks noGrp="1" noRot="1" noChangeAspect="1"/>
          </p:cNvSpPr>
          <p:nvPr>
            <p:ph type="sldImg"/>
          </p:nvPr>
        </p:nvSpPr>
        <p:spPr>
          <a:xfrm>
            <a:off x="1143000" y="685800"/>
            <a:ext cx="4572000" cy="3429000"/>
          </a:xfrm>
          <a:prstGeom prst="rect">
            <a:avLst/>
          </a:prstGeom>
        </p:spPr>
        <p:txBody>
          <a:bodyPr/>
          <a:lstStyle/>
          <a:p>
            <a:endParaRPr/>
          </a:p>
        </p:txBody>
      </p:sp>
      <p:sp>
        <p:nvSpPr>
          <p:cNvPr id="25" name="Shape 2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633155" latinLnBrk="0">
      <a:defRPr sz="3400">
        <a:latin typeface="+mn-lt"/>
        <a:ea typeface="+mn-ea"/>
        <a:cs typeface="+mn-cs"/>
        <a:sym typeface="Calibri"/>
      </a:defRPr>
    </a:lvl1pPr>
    <a:lvl2pPr indent="228600" defTabSz="2633155" latinLnBrk="0">
      <a:defRPr sz="3400">
        <a:latin typeface="+mn-lt"/>
        <a:ea typeface="+mn-ea"/>
        <a:cs typeface="+mn-cs"/>
        <a:sym typeface="Calibri"/>
      </a:defRPr>
    </a:lvl2pPr>
    <a:lvl3pPr indent="457200" defTabSz="2633155" latinLnBrk="0">
      <a:defRPr sz="3400">
        <a:latin typeface="+mn-lt"/>
        <a:ea typeface="+mn-ea"/>
        <a:cs typeface="+mn-cs"/>
        <a:sym typeface="Calibri"/>
      </a:defRPr>
    </a:lvl3pPr>
    <a:lvl4pPr indent="685800" defTabSz="2633155" latinLnBrk="0">
      <a:defRPr sz="3400">
        <a:latin typeface="+mn-lt"/>
        <a:ea typeface="+mn-ea"/>
        <a:cs typeface="+mn-cs"/>
        <a:sym typeface="Calibri"/>
      </a:defRPr>
    </a:lvl4pPr>
    <a:lvl5pPr indent="914400" defTabSz="2633155" latinLnBrk="0">
      <a:defRPr sz="3400">
        <a:latin typeface="+mn-lt"/>
        <a:ea typeface="+mn-ea"/>
        <a:cs typeface="+mn-cs"/>
        <a:sym typeface="Calibri"/>
      </a:defRPr>
    </a:lvl5pPr>
    <a:lvl6pPr indent="1143000" defTabSz="2633155" latinLnBrk="0">
      <a:defRPr sz="3400">
        <a:latin typeface="+mn-lt"/>
        <a:ea typeface="+mn-ea"/>
        <a:cs typeface="+mn-cs"/>
        <a:sym typeface="Calibri"/>
      </a:defRPr>
    </a:lvl6pPr>
    <a:lvl7pPr indent="1371600" defTabSz="2633155" latinLnBrk="0">
      <a:defRPr sz="3400">
        <a:latin typeface="+mn-lt"/>
        <a:ea typeface="+mn-ea"/>
        <a:cs typeface="+mn-cs"/>
        <a:sym typeface="Calibri"/>
      </a:defRPr>
    </a:lvl7pPr>
    <a:lvl8pPr indent="1600200" defTabSz="2633155" latinLnBrk="0">
      <a:defRPr sz="3400">
        <a:latin typeface="+mn-lt"/>
        <a:ea typeface="+mn-ea"/>
        <a:cs typeface="+mn-cs"/>
        <a:sym typeface="Calibri"/>
      </a:defRPr>
    </a:lvl8pPr>
    <a:lvl9pPr indent="1828800" defTabSz="2633155" latinLnBrk="0">
      <a:defRPr sz="3400">
        <a:latin typeface="+mn-lt"/>
        <a:ea typeface="+mn-ea"/>
        <a:cs typeface="+mn-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FB AI">
    <p:spTree>
      <p:nvGrpSpPr>
        <p:cNvPr id="1" name=""/>
        <p:cNvGrpSpPr/>
        <p:nvPr/>
      </p:nvGrpSpPr>
      <p:grpSpPr>
        <a:xfrm>
          <a:off x="0" y="0"/>
          <a:ext cx="0" cy="0"/>
          <a:chOff x="0" y="0"/>
          <a:chExt cx="0" cy="0"/>
        </a:xfrm>
      </p:grpSpPr>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FB AI Research ">
    <p:spTree>
      <p:nvGrpSpPr>
        <p:cNvPr id="1" name=""/>
        <p:cNvGrpSpPr/>
        <p:nvPr/>
      </p:nvGrpSpPr>
      <p:grpSpPr>
        <a:xfrm>
          <a:off x="0" y="0"/>
          <a:ext cx="0" cy="0"/>
          <a:chOff x="0" y="0"/>
          <a:chExt cx="0" cy="0"/>
        </a:xfrm>
      </p:grpSpPr>
      <p:sp>
        <p:nvSpPr>
          <p:cNvPr id="1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645920" y="294640"/>
            <a:ext cx="29626561" cy="4826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lstStyle/>
          <a:p>
            <a:r>
              <a:t>Title Text</a:t>
            </a:r>
          </a:p>
        </p:txBody>
      </p:sp>
      <p:sp>
        <p:nvSpPr>
          <p:cNvPr id="3" name="Body Level One…"/>
          <p:cNvSpPr txBox="1">
            <a:spLocks noGrp="1"/>
          </p:cNvSpPr>
          <p:nvPr>
            <p:ph type="body" idx="1"/>
          </p:nvPr>
        </p:nvSpPr>
        <p:spPr>
          <a:xfrm>
            <a:off x="1645920" y="5120640"/>
            <a:ext cx="29626561" cy="168249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5910559" y="19756119"/>
            <a:ext cx="7680961" cy="1168401"/>
          </a:xfrm>
          <a:prstGeom prst="rect">
            <a:avLst/>
          </a:prstGeom>
          <a:ln w="12700">
            <a:miter lim="400000"/>
          </a:ln>
        </p:spPr>
        <p:txBody>
          <a:bodyPr wrap="none" lIns="45719" rIns="45719" anchor="ctr">
            <a:spAutoFit/>
          </a:bodyPr>
          <a:lstStyle>
            <a:lvl1pPr algn="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txStyles>
    <p:titleStyle>
      <a:lvl1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1pPr>
      <a:lvl2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2pPr>
      <a:lvl3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3pPr>
      <a:lvl4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4pPr>
      <a:lvl5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5pPr>
      <a:lvl6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6pPr>
      <a:lvl7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7pPr>
      <a:lvl8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8pPr>
      <a:lvl9pPr marL="0" marR="0" indent="0" algn="l" defTabSz="2926226" rtl="0" latinLnBrk="0">
        <a:lnSpc>
          <a:spcPct val="90000"/>
        </a:lnSpc>
        <a:spcBef>
          <a:spcPts val="0"/>
        </a:spcBef>
        <a:spcAft>
          <a:spcPts val="0"/>
        </a:spcAft>
        <a:buClrTx/>
        <a:buSzTx/>
        <a:buFontTx/>
        <a:buNone/>
        <a:tabLst/>
        <a:defRPr sz="14000" b="0" i="0" u="none" strike="noStrike" cap="none" spc="0" baseline="0">
          <a:solidFill>
            <a:srgbClr val="000000"/>
          </a:solidFill>
          <a:uFillTx/>
          <a:latin typeface="Calibri Light"/>
          <a:ea typeface="Calibri Light"/>
          <a:cs typeface="Calibri Light"/>
          <a:sym typeface="Calibri Light"/>
        </a:defRPr>
      </a:lvl9pPr>
    </p:titleStyle>
    <p:bodyStyle>
      <a:lvl1pPr marL="731556" marR="0" indent="-731556"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1pPr>
      <a:lvl2pPr marL="2319804" marR="0" indent="-856691"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2pPr>
      <a:lvl3pPr marL="3943547" marR="0" indent="-1017321"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3pPr>
      <a:lvl4pPr marL="5531594" marR="0" indent="-1142255"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4pPr>
      <a:lvl5pPr marL="6994707" marR="0" indent="-1142255"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5pPr>
      <a:lvl6pPr marL="8457820" marR="0" indent="-1142255"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6pPr>
      <a:lvl7pPr marL="9920933" marR="0" indent="-1142255"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7pPr>
      <a:lvl8pPr marL="11384047" marR="0" indent="-1142255"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8pPr>
      <a:lvl9pPr marL="12847160" marR="0" indent="-1142255" algn="l" defTabSz="2926226" rtl="0" latinLnBrk="0">
        <a:lnSpc>
          <a:spcPct val="90000"/>
        </a:lnSpc>
        <a:spcBef>
          <a:spcPts val="3200"/>
        </a:spcBef>
        <a:spcAft>
          <a:spcPts val="0"/>
        </a:spcAft>
        <a:buClrTx/>
        <a:buSzPct val="100000"/>
        <a:buFont typeface="Arial"/>
        <a:buChar char="•"/>
        <a:tabLst/>
        <a:defRPr sz="8900" b="0" i="0" u="none" strike="noStrike" cap="none" spc="0" baseline="0">
          <a:solidFill>
            <a:srgbClr val="000000"/>
          </a:solidFill>
          <a:uFillTx/>
          <a:latin typeface="+mn-lt"/>
          <a:ea typeface="+mn-ea"/>
          <a:cs typeface="+mn-cs"/>
          <a:sym typeface="Calibri"/>
        </a:defRPr>
      </a:lvl9pPr>
    </p:bodyStyle>
    <p:otherStyle>
      <a:lvl1pPr marL="0" marR="0" indent="0"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326532"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653064"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979596"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306128"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1632661"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1959193"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2285725"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2612257" algn="r" defTabSz="326532"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tif"/><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CBEDE31-2D0B-9D25-69D9-E4251B194AA1}"/>
              </a:ext>
            </a:extLst>
          </p:cNvPr>
          <p:cNvSpPr/>
          <p:nvPr/>
        </p:nvSpPr>
        <p:spPr>
          <a:xfrm>
            <a:off x="0" y="-11935"/>
            <a:ext cx="32918400" cy="2909315"/>
          </a:xfrm>
          <a:prstGeom prst="rect">
            <a:avLst/>
          </a:prstGeom>
          <a:solidFill>
            <a:srgbClr val="6851EB"/>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326532"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mn-lt"/>
              <a:ea typeface="+mn-ea"/>
              <a:cs typeface="+mn-cs"/>
              <a:sym typeface="Calibri"/>
            </a:endParaRPr>
          </a:p>
        </p:txBody>
      </p:sp>
      <p:sp>
        <p:nvSpPr>
          <p:cNvPr id="30" name="TextBox 35"/>
          <p:cNvSpPr txBox="1"/>
          <p:nvPr/>
        </p:nvSpPr>
        <p:spPr>
          <a:xfrm>
            <a:off x="274440" y="796028"/>
            <a:ext cx="20017205" cy="14465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defRPr sz="5500">
                <a:latin typeface="Arial"/>
                <a:ea typeface="Arial"/>
                <a:cs typeface="Arial"/>
                <a:sym typeface="Arial"/>
              </a:defRPr>
            </a:lvl1pPr>
          </a:lstStyle>
          <a:p>
            <a:r>
              <a:rPr lang="en-US" sz="4400" b="1" dirty="0">
                <a:solidFill>
                  <a:srgbClr val="F5F5F5"/>
                </a:solidFill>
              </a:rPr>
              <a:t>Tree Health Monitoring Using Deep Learning:</a:t>
            </a:r>
          </a:p>
          <a:p>
            <a:r>
              <a:rPr lang="en-US" sz="4400" b="1" dirty="0">
                <a:solidFill>
                  <a:srgbClr val="F5F5F5"/>
                </a:solidFill>
              </a:rPr>
              <a:t>A Comparative Study of Models for Imbalanced Environmental Data</a:t>
            </a:r>
          </a:p>
        </p:txBody>
      </p:sp>
      <p:pic>
        <p:nvPicPr>
          <p:cNvPr id="31" name="Picture 33" descr="Picture 33"/>
          <p:cNvPicPr>
            <a:picLocks noChangeAspect="1"/>
          </p:cNvPicPr>
          <p:nvPr/>
        </p:nvPicPr>
        <p:blipFill>
          <a:blip r:embed="rId2"/>
          <a:stretch>
            <a:fillRect/>
          </a:stretch>
        </p:blipFill>
        <p:spPr>
          <a:xfrm>
            <a:off x="23683676" y="3524768"/>
            <a:ext cx="7550306" cy="6685451"/>
          </a:xfrm>
          <a:prstGeom prst="rect">
            <a:avLst/>
          </a:prstGeom>
          <a:ln w="12700">
            <a:miter lim="400000"/>
          </a:ln>
        </p:spPr>
      </p:pic>
      <p:pic>
        <p:nvPicPr>
          <p:cNvPr id="32" name="Graphic 36" descr="Graphic 36"/>
          <p:cNvPicPr>
            <a:picLocks noChangeAspect="1"/>
          </p:cNvPicPr>
          <p:nvPr/>
        </p:nvPicPr>
        <p:blipFill>
          <a:blip r:embed="rId3"/>
          <a:stretch>
            <a:fillRect/>
          </a:stretch>
        </p:blipFill>
        <p:spPr>
          <a:xfrm>
            <a:off x="24227637" y="14459308"/>
            <a:ext cx="6426465" cy="2454553"/>
          </a:xfrm>
          <a:prstGeom prst="rect">
            <a:avLst/>
          </a:prstGeom>
          <a:ln w="12700">
            <a:miter lim="400000"/>
          </a:ln>
        </p:spPr>
      </p:pic>
      <p:sp>
        <p:nvSpPr>
          <p:cNvPr id="33" name="TextBox 38"/>
          <p:cNvSpPr txBox="1"/>
          <p:nvPr/>
        </p:nvSpPr>
        <p:spPr>
          <a:xfrm>
            <a:off x="986246" y="3580560"/>
            <a:ext cx="9064534" cy="6155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3400">
                <a:latin typeface="Arial"/>
                <a:ea typeface="Arial"/>
                <a:cs typeface="Arial"/>
                <a:sym typeface="Arial"/>
              </a:defRPr>
            </a:lvl1pPr>
          </a:lstStyle>
          <a:p>
            <a:pPr algn="ctr"/>
            <a:r>
              <a:rPr lang="en-GB" b="1" dirty="0">
                <a:solidFill>
                  <a:srgbClr val="6851EB"/>
                </a:solidFill>
              </a:rPr>
              <a:t>GOAL</a:t>
            </a:r>
            <a:endParaRPr b="1" dirty="0">
              <a:solidFill>
                <a:srgbClr val="6851EB"/>
              </a:solidFill>
            </a:endParaRPr>
          </a:p>
        </p:txBody>
      </p:sp>
      <p:sp>
        <p:nvSpPr>
          <p:cNvPr id="34" name="TextBox 39"/>
          <p:cNvSpPr txBox="1"/>
          <p:nvPr/>
        </p:nvSpPr>
        <p:spPr>
          <a:xfrm>
            <a:off x="986246" y="4476745"/>
            <a:ext cx="9064534" cy="23834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120000"/>
              </a:lnSpc>
              <a:defRPr sz="2100">
                <a:solidFill>
                  <a:srgbClr val="344854"/>
                </a:solidFill>
                <a:latin typeface="Arial"/>
                <a:ea typeface="Arial"/>
                <a:cs typeface="Arial"/>
                <a:sym typeface="Arial"/>
              </a:defRPr>
            </a:lvl1pPr>
          </a:lstStyle>
          <a:p>
            <a:pPr algn="just"/>
            <a:r>
              <a:rPr lang="en-US" dirty="0"/>
              <a:t>This project aims to automate the classification of tree health using deep learning, replacing the slow and time-consuming manual inspections. By using image data collected from a tree nursery in the UK, the system seeks to detect early signs of decline and stress in real time. Automating this process can enable faster intervention, support urban environmental resilience, and provide valuable insights into tree health over time.</a:t>
            </a:r>
            <a:endParaRPr dirty="0"/>
          </a:p>
        </p:txBody>
      </p:sp>
      <p:sp>
        <p:nvSpPr>
          <p:cNvPr id="35" name="TextBox 41"/>
          <p:cNvSpPr txBox="1"/>
          <p:nvPr/>
        </p:nvSpPr>
        <p:spPr>
          <a:xfrm>
            <a:off x="11854541" y="9929327"/>
            <a:ext cx="9130938" cy="18435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120000"/>
              </a:lnSpc>
              <a:defRPr sz="2100">
                <a:solidFill>
                  <a:srgbClr val="344854"/>
                </a:solidFill>
                <a:latin typeface="Arial"/>
                <a:ea typeface="Arial"/>
                <a:cs typeface="Arial"/>
                <a:sym typeface="Arial"/>
              </a:defRPr>
            </a:lvl1pPr>
          </a:lstStyle>
          <a:p>
            <a:r>
              <a:t>This section is an example of a paragraph.  When creating sections, regardless of whether you're putting in text or images, always try to align to the edges of the yellow guidelines. This poster canvas is broken into 3 columns, and aligning to the edges will make it much easier for viewers to differentiate sections and read information.</a:t>
            </a:r>
          </a:p>
        </p:txBody>
      </p:sp>
      <p:sp>
        <p:nvSpPr>
          <p:cNvPr id="37" name="TextBox 43"/>
          <p:cNvSpPr txBox="1"/>
          <p:nvPr/>
        </p:nvSpPr>
        <p:spPr>
          <a:xfrm>
            <a:off x="11880670" y="3580560"/>
            <a:ext cx="9064533" cy="5726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3400">
                <a:latin typeface="Arial"/>
                <a:ea typeface="Arial"/>
                <a:cs typeface="Arial"/>
                <a:sym typeface="Arial"/>
              </a:defRPr>
            </a:lvl1pPr>
          </a:lstStyle>
          <a:p>
            <a:r>
              <a:t>Section header in 34pt font</a:t>
            </a:r>
          </a:p>
        </p:txBody>
      </p:sp>
      <p:sp>
        <p:nvSpPr>
          <p:cNvPr id="38" name="TextBox 44"/>
          <p:cNvSpPr txBox="1"/>
          <p:nvPr/>
        </p:nvSpPr>
        <p:spPr>
          <a:xfrm>
            <a:off x="11880670" y="4326744"/>
            <a:ext cx="9064533" cy="3875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100">
                <a:latin typeface="Arial"/>
                <a:ea typeface="Arial"/>
                <a:cs typeface="Arial"/>
                <a:sym typeface="Arial"/>
              </a:defRPr>
            </a:lvl1pPr>
          </a:lstStyle>
          <a:p>
            <a:r>
              <a:t>Optional section descriptor in 21pt font</a:t>
            </a:r>
          </a:p>
        </p:txBody>
      </p:sp>
      <p:sp>
        <p:nvSpPr>
          <p:cNvPr id="42" name="TextBox 51"/>
          <p:cNvSpPr txBox="1"/>
          <p:nvPr/>
        </p:nvSpPr>
        <p:spPr>
          <a:xfrm>
            <a:off x="22928580" y="11375924"/>
            <a:ext cx="9029701" cy="5726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3400">
                <a:latin typeface="Arial"/>
                <a:ea typeface="Arial"/>
                <a:cs typeface="Arial"/>
                <a:sym typeface="Arial"/>
              </a:defRPr>
            </a:lvl1pPr>
          </a:lstStyle>
          <a:p>
            <a:r>
              <a:t>Section header in 34pt font</a:t>
            </a:r>
          </a:p>
        </p:txBody>
      </p:sp>
      <p:sp>
        <p:nvSpPr>
          <p:cNvPr id="43" name="TextBox 52"/>
          <p:cNvSpPr txBox="1"/>
          <p:nvPr/>
        </p:nvSpPr>
        <p:spPr>
          <a:xfrm>
            <a:off x="22928580" y="12122105"/>
            <a:ext cx="9029701" cy="3875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100">
                <a:latin typeface="Arial"/>
                <a:ea typeface="Arial"/>
                <a:cs typeface="Arial"/>
                <a:sym typeface="Arial"/>
              </a:defRPr>
            </a:lvl1pPr>
          </a:lstStyle>
          <a:p>
            <a:r>
              <a:t>Optional section descriptor in 21pt font</a:t>
            </a:r>
          </a:p>
        </p:txBody>
      </p:sp>
      <p:sp>
        <p:nvSpPr>
          <p:cNvPr id="44" name="TextBox 53"/>
          <p:cNvSpPr txBox="1"/>
          <p:nvPr/>
        </p:nvSpPr>
        <p:spPr>
          <a:xfrm>
            <a:off x="22918782" y="12716374"/>
            <a:ext cx="9039498" cy="111554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120000"/>
              </a:lnSpc>
              <a:defRPr sz="2100">
                <a:solidFill>
                  <a:srgbClr val="344854"/>
                </a:solidFill>
                <a:latin typeface="Arial"/>
                <a:ea typeface="Arial"/>
                <a:cs typeface="Arial"/>
                <a:sym typeface="Arial"/>
              </a:defRPr>
            </a:lvl1pPr>
          </a:lstStyle>
          <a:p>
            <a:r>
              <a:t>This section is an example of a paragraph.  When creating sections, regardless of whether you're putting in text or images, always try to align to the edges of the yellow guidelines. </a:t>
            </a:r>
          </a:p>
        </p:txBody>
      </p:sp>
      <p:sp>
        <p:nvSpPr>
          <p:cNvPr id="45" name="TextBox 54"/>
          <p:cNvSpPr txBox="1"/>
          <p:nvPr/>
        </p:nvSpPr>
        <p:spPr>
          <a:xfrm>
            <a:off x="22928580" y="10532596"/>
            <a:ext cx="9029701" cy="2765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300">
                <a:solidFill>
                  <a:srgbClr val="344854"/>
                </a:solidFill>
                <a:latin typeface="Arial"/>
                <a:ea typeface="Arial"/>
                <a:cs typeface="Arial"/>
                <a:sym typeface="Arial"/>
              </a:defRPr>
            </a:lvl1pPr>
          </a:lstStyle>
          <a:p>
            <a:r>
              <a:t>Optional caption for images, charts, and graphs</a:t>
            </a:r>
          </a:p>
        </p:txBody>
      </p:sp>
      <p:pic>
        <p:nvPicPr>
          <p:cNvPr id="47" name="Image" descr="Image"/>
          <p:cNvPicPr>
            <a:picLocks noChangeAspect="1"/>
          </p:cNvPicPr>
          <p:nvPr/>
        </p:nvPicPr>
        <p:blipFill>
          <a:blip r:embed="rId4"/>
          <a:stretch>
            <a:fillRect/>
          </a:stretch>
        </p:blipFill>
        <p:spPr>
          <a:xfrm>
            <a:off x="12541143" y="12968203"/>
            <a:ext cx="7836114" cy="1910722"/>
          </a:xfrm>
          <a:prstGeom prst="rect">
            <a:avLst/>
          </a:prstGeom>
          <a:ln w="12700">
            <a:miter lim="400000"/>
          </a:ln>
        </p:spPr>
      </p:pic>
      <p:sp>
        <p:nvSpPr>
          <p:cNvPr id="48" name="TextBox 60"/>
          <p:cNvSpPr txBox="1"/>
          <p:nvPr/>
        </p:nvSpPr>
        <p:spPr>
          <a:xfrm>
            <a:off x="22905719" y="17368623"/>
            <a:ext cx="6335025" cy="3875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2100">
                <a:latin typeface="Arial"/>
                <a:ea typeface="Arial"/>
                <a:cs typeface="Arial"/>
                <a:sym typeface="Arial"/>
              </a:defRPr>
            </a:lvl1pPr>
          </a:lstStyle>
          <a:p>
            <a:r>
              <a:t>References</a:t>
            </a:r>
          </a:p>
        </p:txBody>
      </p:sp>
      <p:sp>
        <p:nvSpPr>
          <p:cNvPr id="49" name="TextBox 61"/>
          <p:cNvSpPr txBox="1"/>
          <p:nvPr/>
        </p:nvSpPr>
        <p:spPr>
          <a:xfrm>
            <a:off x="22905719" y="17994856"/>
            <a:ext cx="6335025" cy="25350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b">
            <a:spAutoFit/>
          </a:bodyPr>
          <a:lstStyle/>
          <a:p>
            <a:pPr>
              <a:lnSpc>
                <a:spcPct val="120000"/>
              </a:lnSpc>
              <a:spcBef>
                <a:spcPts val="600"/>
              </a:spcBef>
              <a:defRPr sz="1400">
                <a:latin typeface="Arial"/>
                <a:ea typeface="Arial"/>
                <a:cs typeface="Arial"/>
                <a:sym typeface="Arial"/>
              </a:defRPr>
            </a:pPr>
            <a:r>
              <a:t>References in 14pt font </a:t>
            </a:r>
          </a:p>
          <a:p>
            <a:pPr>
              <a:lnSpc>
                <a:spcPct val="120000"/>
              </a:lnSpc>
              <a:spcBef>
                <a:spcPts val="600"/>
              </a:spcBef>
              <a:defRPr sz="1400">
                <a:latin typeface="Arial"/>
                <a:ea typeface="Arial"/>
                <a:cs typeface="Arial"/>
                <a:sym typeface="Arial"/>
              </a:defRPr>
            </a:pPr>
            <a:r>
              <a:t>Homer W Simpson (2013). “Donuts taste good.” </a:t>
            </a:r>
            <a:r>
              <a:rPr>
                <a:solidFill>
                  <a:srgbClr val="677B8C"/>
                </a:solidFill>
              </a:rPr>
              <a:t>In: IEEE 13th Internation Conference on Data Mining. IEEE, pp. 405-409</a:t>
            </a:r>
          </a:p>
          <a:p>
            <a:pPr>
              <a:lnSpc>
                <a:spcPct val="120000"/>
              </a:lnSpc>
              <a:spcBef>
                <a:spcPts val="600"/>
              </a:spcBef>
              <a:defRPr sz="1400">
                <a:latin typeface="Arial"/>
                <a:ea typeface="Arial"/>
                <a:cs typeface="Arial"/>
                <a:sym typeface="Arial"/>
              </a:defRPr>
            </a:pPr>
            <a:r>
              <a:t>Marge Simpson (2010). “Blue hair looks nice.”. </a:t>
            </a:r>
            <a:r>
              <a:rPr>
                <a:solidFill>
                  <a:srgbClr val="677B8C"/>
                </a:solidFill>
              </a:rPr>
              <a:t>In: Nature communications 1, p. 622.</a:t>
            </a:r>
          </a:p>
          <a:p>
            <a:pPr>
              <a:lnSpc>
                <a:spcPct val="120000"/>
              </a:lnSpc>
              <a:spcBef>
                <a:spcPts val="600"/>
              </a:spcBef>
              <a:defRPr sz="1400">
                <a:latin typeface="Arial"/>
                <a:ea typeface="Arial"/>
                <a:cs typeface="Arial"/>
                <a:sym typeface="Arial"/>
              </a:defRPr>
            </a:pPr>
            <a:r>
              <a:t>Bart Simpson (2013). “Hello”. </a:t>
            </a:r>
            <a:r>
              <a:rPr>
                <a:solidFill>
                  <a:srgbClr val="677B8C"/>
                </a:solidFill>
              </a:rPr>
              <a:t>In: IEEE Simpsons.</a:t>
            </a:r>
          </a:p>
          <a:p>
            <a:pPr>
              <a:lnSpc>
                <a:spcPct val="120000"/>
              </a:lnSpc>
              <a:spcBef>
                <a:spcPts val="600"/>
              </a:spcBef>
              <a:defRPr sz="1400">
                <a:latin typeface="Arial"/>
                <a:ea typeface="Arial"/>
                <a:cs typeface="Arial"/>
                <a:sym typeface="Arial"/>
              </a:defRPr>
            </a:pPr>
            <a:r>
              <a:t>Marge Simpson et al. (2013). “Lorem Ipsum.” </a:t>
            </a:r>
            <a:r>
              <a:rPr>
                <a:solidFill>
                  <a:srgbClr val="677B8C"/>
                </a:solidFill>
              </a:rPr>
              <a:t>In: Advances in Neural Information Processing Systems 26. Ed. by Christopher J. C. Burges et al., pp. 27–29.</a:t>
            </a:r>
          </a:p>
        </p:txBody>
      </p:sp>
      <p:sp>
        <p:nvSpPr>
          <p:cNvPr id="50" name="TextBox 37"/>
          <p:cNvSpPr txBox="1"/>
          <p:nvPr/>
        </p:nvSpPr>
        <p:spPr>
          <a:xfrm>
            <a:off x="18174914" y="951575"/>
            <a:ext cx="6052723" cy="11387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spcBef>
                <a:spcPts val="300"/>
              </a:spcBef>
              <a:defRPr sz="2100">
                <a:latin typeface="Arial"/>
                <a:ea typeface="Arial"/>
                <a:cs typeface="Arial"/>
                <a:sym typeface="Arial"/>
              </a:defRPr>
            </a:pPr>
            <a:r>
              <a:rPr lang="en-US" sz="2100" dirty="0">
                <a:solidFill>
                  <a:srgbClr val="F5F5F5"/>
                </a:solidFill>
              </a:rPr>
              <a:t>Momchil Valkov</a:t>
            </a:r>
          </a:p>
          <a:p>
            <a:pPr algn="ctr">
              <a:spcBef>
                <a:spcPts val="300"/>
              </a:spcBef>
              <a:defRPr sz="2100">
                <a:latin typeface="Arial"/>
                <a:ea typeface="Arial"/>
                <a:cs typeface="Arial"/>
                <a:sym typeface="Arial"/>
              </a:defRPr>
            </a:pPr>
            <a:r>
              <a:rPr lang="en-US" sz="2100" dirty="0">
                <a:solidFill>
                  <a:srgbClr val="F5F5F5"/>
                </a:solidFill>
              </a:rPr>
              <a:t>Marcel </a:t>
            </a:r>
            <a:r>
              <a:rPr lang="en-US" sz="2100" dirty="0" err="1">
                <a:solidFill>
                  <a:srgbClr val="F5F5F5"/>
                </a:solidFill>
              </a:rPr>
              <a:t>Steegh</a:t>
            </a:r>
            <a:r>
              <a:rPr lang="en-US" sz="2100" dirty="0">
                <a:solidFill>
                  <a:srgbClr val="F5F5F5"/>
                </a:solidFill>
              </a:rPr>
              <a:t> | Dr. Andrew Hirons</a:t>
            </a:r>
          </a:p>
          <a:p>
            <a:pPr algn="ctr">
              <a:spcBef>
                <a:spcPts val="300"/>
              </a:spcBef>
              <a:defRPr sz="2100">
                <a:latin typeface="Arial"/>
                <a:ea typeface="Arial"/>
                <a:cs typeface="Arial"/>
                <a:sym typeface="Arial"/>
              </a:defRPr>
            </a:pPr>
            <a:r>
              <a:rPr lang="en-US" sz="2100" dirty="0" err="1">
                <a:solidFill>
                  <a:srgbClr val="F5F5F5"/>
                </a:solidFill>
              </a:rPr>
              <a:t>Univia</a:t>
            </a:r>
            <a:endParaRPr sz="2100" dirty="0">
              <a:solidFill>
                <a:srgbClr val="F5F5F5"/>
              </a:solidFill>
            </a:endParaRPr>
          </a:p>
        </p:txBody>
      </p:sp>
      <p:pic>
        <p:nvPicPr>
          <p:cNvPr id="51" name="Image" descr="Image"/>
          <p:cNvPicPr>
            <a:picLocks noChangeAspect="1"/>
          </p:cNvPicPr>
          <p:nvPr/>
        </p:nvPicPr>
        <p:blipFill>
          <a:blip r:embed="rId5"/>
          <a:srcRect l="11281" b="11572"/>
          <a:stretch>
            <a:fillRect/>
          </a:stretch>
        </p:blipFill>
        <p:spPr>
          <a:xfrm>
            <a:off x="30639512" y="19418089"/>
            <a:ext cx="2166058" cy="2158938"/>
          </a:xfrm>
          <a:prstGeom prst="rect">
            <a:avLst/>
          </a:prstGeom>
          <a:ln w="12700">
            <a:miter lim="400000"/>
          </a:ln>
        </p:spPr>
      </p:pic>
      <p:pic>
        <p:nvPicPr>
          <p:cNvPr id="52" name="Screen Shot 2020-10-26 at 10.02.03 PM.png" descr="Screen Shot 2020-10-26 at 10.02.03 PM.png"/>
          <p:cNvPicPr>
            <a:picLocks noChangeAspect="1"/>
          </p:cNvPicPr>
          <p:nvPr/>
        </p:nvPicPr>
        <p:blipFill>
          <a:blip r:embed="rId6"/>
          <a:stretch>
            <a:fillRect/>
          </a:stretch>
        </p:blipFill>
        <p:spPr>
          <a:xfrm>
            <a:off x="11923183" y="5243980"/>
            <a:ext cx="9477674" cy="4380182"/>
          </a:xfrm>
          <a:prstGeom prst="rect">
            <a:avLst/>
          </a:prstGeom>
          <a:ln w="12700">
            <a:miter lim="400000"/>
          </a:ln>
        </p:spPr>
      </p:pic>
      <p:pic>
        <p:nvPicPr>
          <p:cNvPr id="53" name="Screen Shot 2020-10-26 at 10.03.39 PM.png" descr="Screen Shot 2020-10-26 at 10.03.39 PM.png"/>
          <p:cNvPicPr>
            <a:picLocks noChangeAspect="1"/>
          </p:cNvPicPr>
          <p:nvPr/>
        </p:nvPicPr>
        <p:blipFill>
          <a:blip r:embed="rId7"/>
          <a:stretch>
            <a:fillRect/>
          </a:stretch>
        </p:blipFill>
        <p:spPr>
          <a:xfrm>
            <a:off x="11422560" y="15186845"/>
            <a:ext cx="10772753" cy="6030681"/>
          </a:xfrm>
          <a:prstGeom prst="rect">
            <a:avLst/>
          </a:prstGeom>
          <a:ln w="12700">
            <a:miter lim="400000"/>
          </a:ln>
        </p:spPr>
      </p:pic>
      <p:sp>
        <p:nvSpPr>
          <p:cNvPr id="5" name="Rectangle 4">
            <a:extLst>
              <a:ext uri="{FF2B5EF4-FFF2-40B4-BE49-F238E27FC236}">
                <a16:creationId xmlns:a16="http://schemas.microsoft.com/office/drawing/2014/main" id="{E26F6558-9FE2-0179-2E67-3A99E254B4DF}"/>
              </a:ext>
            </a:extLst>
          </p:cNvPr>
          <p:cNvSpPr/>
          <p:nvPr/>
        </p:nvSpPr>
        <p:spPr>
          <a:xfrm>
            <a:off x="23810517" y="368573"/>
            <a:ext cx="8833443" cy="2075200"/>
          </a:xfrm>
          <a:prstGeom prst="rect">
            <a:avLst/>
          </a:prstGeom>
          <a:solidFill>
            <a:srgbClr val="F5F5F5"/>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326532"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effectLst/>
              <a:uFillTx/>
              <a:latin typeface="+mn-lt"/>
              <a:ea typeface="+mn-ea"/>
              <a:cs typeface="+mn-cs"/>
              <a:sym typeface="Calibri"/>
            </a:endParaRPr>
          </a:p>
        </p:txBody>
      </p:sp>
      <p:pic>
        <p:nvPicPr>
          <p:cNvPr id="3" name="Picture 2" descr="A black background with blue letters&#10;&#10;AI-generated content may be incorrect.">
            <a:extLst>
              <a:ext uri="{FF2B5EF4-FFF2-40B4-BE49-F238E27FC236}">
                <a16:creationId xmlns:a16="http://schemas.microsoft.com/office/drawing/2014/main" id="{AD0BF1AD-BA21-844C-457E-992E0C900A4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3810518" y="341743"/>
            <a:ext cx="8833442" cy="2128860"/>
          </a:xfrm>
          <a:prstGeom prst="rect">
            <a:avLst/>
          </a:prstGeom>
        </p:spPr>
      </p:pic>
      <p:sp>
        <p:nvSpPr>
          <p:cNvPr id="6" name="TextBox 38">
            <a:extLst>
              <a:ext uri="{FF2B5EF4-FFF2-40B4-BE49-F238E27FC236}">
                <a16:creationId xmlns:a16="http://schemas.microsoft.com/office/drawing/2014/main" id="{E26D62DB-ED14-8FF1-42B6-AEB113197015}"/>
              </a:ext>
            </a:extLst>
          </p:cNvPr>
          <p:cNvSpPr txBox="1"/>
          <p:nvPr/>
        </p:nvSpPr>
        <p:spPr>
          <a:xfrm>
            <a:off x="982979" y="7463842"/>
            <a:ext cx="9064534" cy="6155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3400">
                <a:latin typeface="Arial"/>
                <a:ea typeface="Arial"/>
                <a:cs typeface="Arial"/>
                <a:sym typeface="Arial"/>
              </a:defRPr>
            </a:lvl1pPr>
          </a:lstStyle>
          <a:p>
            <a:pPr algn="ctr"/>
            <a:r>
              <a:rPr lang="en-GB" b="1" dirty="0">
                <a:solidFill>
                  <a:srgbClr val="6851EB"/>
                </a:solidFill>
              </a:rPr>
              <a:t>PROBLEM</a:t>
            </a:r>
            <a:endParaRPr b="1" dirty="0">
              <a:solidFill>
                <a:srgbClr val="6851EB"/>
              </a:solidFill>
            </a:endParaRPr>
          </a:p>
        </p:txBody>
      </p:sp>
      <p:sp>
        <p:nvSpPr>
          <p:cNvPr id="7" name="TextBox 39">
            <a:extLst>
              <a:ext uri="{FF2B5EF4-FFF2-40B4-BE49-F238E27FC236}">
                <a16:creationId xmlns:a16="http://schemas.microsoft.com/office/drawing/2014/main" id="{80D87C51-7AFB-860A-CE6A-3469F311D0E3}"/>
              </a:ext>
            </a:extLst>
          </p:cNvPr>
          <p:cNvSpPr txBox="1"/>
          <p:nvPr/>
        </p:nvSpPr>
        <p:spPr>
          <a:xfrm>
            <a:off x="986246" y="8360027"/>
            <a:ext cx="9064534" cy="352256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120000"/>
              </a:lnSpc>
              <a:defRPr sz="2100">
                <a:solidFill>
                  <a:srgbClr val="344854"/>
                </a:solidFill>
                <a:latin typeface="Arial"/>
                <a:ea typeface="Arial"/>
                <a:cs typeface="Arial"/>
                <a:sym typeface="Arial"/>
              </a:defRPr>
            </a:lvl1pPr>
          </a:lstStyle>
          <a:p>
            <a:pPr algn="just"/>
            <a:r>
              <a:rPr lang="en-US" dirty="0"/>
              <a:t>Tree health monitoring is traditionally a manual task, that cannot keep up with the dynamic nature of plant conditions. By the time a tree is assessed, its health may have already declined further, making timely intervention difficult or ineffective:</a:t>
            </a:r>
          </a:p>
          <a:p>
            <a:pPr algn="just">
              <a:lnSpc>
                <a:spcPct val="150000"/>
              </a:lnSpc>
            </a:pPr>
            <a:r>
              <a:rPr lang="en-US" dirty="0"/>
              <a:t>❖ Manual inspection is slow and not scalable</a:t>
            </a:r>
          </a:p>
          <a:p>
            <a:pPr algn="just">
              <a:lnSpc>
                <a:spcPct val="150000"/>
              </a:lnSpc>
            </a:pPr>
            <a:r>
              <a:rPr lang="en-US" dirty="0"/>
              <a:t>❖ Delayed detection reduces opportunities for timely intervention</a:t>
            </a:r>
          </a:p>
          <a:p>
            <a:pPr algn="just">
              <a:lnSpc>
                <a:spcPct val="150000"/>
              </a:lnSpc>
            </a:pPr>
            <a:r>
              <a:rPr lang="en-US" dirty="0"/>
              <a:t>❖ No automated use of available visual data</a:t>
            </a:r>
          </a:p>
          <a:p>
            <a:pPr algn="just">
              <a:lnSpc>
                <a:spcPct val="150000"/>
              </a:lnSpc>
            </a:pPr>
            <a:r>
              <a:rPr lang="en-US" dirty="0"/>
              <a:t>❖ Lack of accessible AI tools for non-technical stakeholders</a:t>
            </a:r>
          </a:p>
        </p:txBody>
      </p:sp>
      <p:sp>
        <p:nvSpPr>
          <p:cNvPr id="8" name="TextBox 38">
            <a:extLst>
              <a:ext uri="{FF2B5EF4-FFF2-40B4-BE49-F238E27FC236}">
                <a16:creationId xmlns:a16="http://schemas.microsoft.com/office/drawing/2014/main" id="{141CFB88-E5BA-7FB9-A606-74536D781C89}"/>
              </a:ext>
            </a:extLst>
          </p:cNvPr>
          <p:cNvSpPr txBox="1"/>
          <p:nvPr/>
        </p:nvSpPr>
        <p:spPr>
          <a:xfrm>
            <a:off x="925287" y="12338080"/>
            <a:ext cx="9064534" cy="6155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3400">
                <a:latin typeface="Arial"/>
                <a:ea typeface="Arial"/>
                <a:cs typeface="Arial"/>
                <a:sym typeface="Arial"/>
              </a:defRPr>
            </a:lvl1pPr>
          </a:lstStyle>
          <a:p>
            <a:pPr algn="ctr"/>
            <a:r>
              <a:rPr lang="en-GB" b="1" dirty="0">
                <a:solidFill>
                  <a:srgbClr val="6851EB"/>
                </a:solidFill>
              </a:rPr>
              <a:t>METHODOLOGY</a:t>
            </a:r>
            <a:endParaRPr b="1" dirty="0">
              <a:solidFill>
                <a:srgbClr val="6851EB"/>
              </a:solidFill>
            </a:endParaRPr>
          </a:p>
        </p:txBody>
      </p:sp>
      <p:sp>
        <p:nvSpPr>
          <p:cNvPr id="9" name="TextBox 39">
            <a:extLst>
              <a:ext uri="{FF2B5EF4-FFF2-40B4-BE49-F238E27FC236}">
                <a16:creationId xmlns:a16="http://schemas.microsoft.com/office/drawing/2014/main" id="{5AC2C5FD-E698-0B74-27E3-902B7C74E5FA}"/>
              </a:ext>
            </a:extLst>
          </p:cNvPr>
          <p:cNvSpPr txBox="1"/>
          <p:nvPr/>
        </p:nvSpPr>
        <p:spPr>
          <a:xfrm>
            <a:off x="1138646" y="13274147"/>
            <a:ext cx="9064534" cy="342561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120000"/>
              </a:lnSpc>
              <a:defRPr sz="2100">
                <a:solidFill>
                  <a:srgbClr val="344854"/>
                </a:solidFill>
                <a:latin typeface="Arial"/>
                <a:ea typeface="Arial"/>
                <a:cs typeface="Arial"/>
                <a:sym typeface="Arial"/>
              </a:defRPr>
            </a:lvl1pPr>
          </a:lstStyle>
          <a:p>
            <a:pPr>
              <a:lnSpc>
                <a:spcPct val="150000"/>
              </a:lnSpc>
            </a:pPr>
            <a:r>
              <a:rPr lang="en-US" dirty="0"/>
              <a:t>To address the problem of delayed and inconsistent tree health monitoring, the following methods were used:</a:t>
            </a:r>
            <a:br>
              <a:rPr lang="en-US" dirty="0"/>
            </a:br>
            <a:r>
              <a:rPr lang="en-US" dirty="0"/>
              <a:t>❖ Data analysis and cleaning</a:t>
            </a:r>
            <a:br>
              <a:rPr lang="en-US" dirty="0"/>
            </a:br>
            <a:r>
              <a:rPr lang="en-US" dirty="0"/>
              <a:t>❖ Preprocessing (normalization, resizing, and data augmentation)</a:t>
            </a:r>
            <a:br>
              <a:rPr lang="en-US" dirty="0"/>
            </a:br>
            <a:r>
              <a:rPr lang="en-US" dirty="0"/>
              <a:t>❖ Class imbalance handling strategies (oversampling and class weighting)</a:t>
            </a:r>
            <a:br>
              <a:rPr lang="en-US" dirty="0"/>
            </a:br>
            <a:r>
              <a:rPr lang="en-US" dirty="0"/>
              <a:t>❖ Training on EfficientNetV2 and Swin Transformer</a:t>
            </a:r>
            <a:br>
              <a:rPr lang="en-US" dirty="0"/>
            </a:br>
            <a:r>
              <a:rPr lang="en-US" dirty="0"/>
              <a:t>❖ Evaluation using precision, recall, F1-score and accuracy</a:t>
            </a:r>
          </a:p>
        </p:txBody>
      </p:sp>
      <p:pic>
        <p:nvPicPr>
          <p:cNvPr id="13" name="Picture 12">
            <a:extLst>
              <a:ext uri="{FF2B5EF4-FFF2-40B4-BE49-F238E27FC236}">
                <a16:creationId xmlns:a16="http://schemas.microsoft.com/office/drawing/2014/main" id="{B02CE036-D6F8-13AC-6CB1-65275643AD2A}"/>
              </a:ext>
            </a:extLst>
          </p:cNvPr>
          <p:cNvPicPr>
            <a:picLocks noChangeAspect="1"/>
          </p:cNvPicPr>
          <p:nvPr/>
        </p:nvPicPr>
        <p:blipFill>
          <a:blip r:embed="rId9"/>
          <a:srcRect l="4149" t="2285" r="4550" b="7181"/>
          <a:stretch/>
        </p:blipFill>
        <p:spPr>
          <a:xfrm>
            <a:off x="2888554" y="17356033"/>
            <a:ext cx="6949440" cy="3173860"/>
          </a:xfrm>
          <a:prstGeom prst="rect">
            <a:avLst/>
          </a:prstGeom>
        </p:spPr>
      </p:pic>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32653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254</TotalTime>
  <Words>478</Words>
  <Application>Microsoft Office PowerPoint</Application>
  <PresentationFormat>Custom</PresentationFormat>
  <Paragraphs>28</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Momchil Valkov</dc:creator>
  <cp:lastModifiedBy>Valkov,Momchil M.I.</cp:lastModifiedBy>
  <cp:revision>2</cp:revision>
  <dcterms:modified xsi:type="dcterms:W3CDTF">2025-05-02T12:07:14Z</dcterms:modified>
</cp:coreProperties>
</file>